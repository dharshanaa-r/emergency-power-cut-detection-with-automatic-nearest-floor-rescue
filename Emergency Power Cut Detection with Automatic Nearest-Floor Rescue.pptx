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60"/>
  </p:normalViewPr>
  <p:slideViewPr>
    <p:cSldViewPr snapToGrid="0">
      <p:cViewPr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8T05:33:22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115 331,'2'-1,"1"0,0 0,-1 0,1-1,-1 1,1 0,-1-1,0 0,0 0,1 0,2-3,4-4,46-33,-7 5,56-55,-86 76,0 0,1 2,1 0,0 1,32-14,-40 22,0 0,1 0,-1 2,1-1,0 2,0-1,19 1,97 4,-61 0,-58-2,-1 0,-1 0,1 0,0 1,0 0,-1 1,1 0,-1 0,1 1,11 5,50 26,-6-5,-2 3,82 56,-136-82,0-1,0-1,1 0,-1 0,1-1,0 0,0 0,0-1,0 0,14 1,8-1,56-5,-26 0,67 4,83-3,-177-3,0-1,0-2,60-22,-81 26,45-18,-37 13,0 1,1 1,0 1,0 1,35-3,51-6,-79 8,1 2,57 0,-78 4,1 1,-1 0,1 1,-1 0,1 0,-1 1,0 0,0 1,0 0,-1 1,0-1,1 2,8 6,-14-9,1 0,-1 0,1 1,-1-1,0 1,-1-1,1 1,-1 0,1 0,-1 1,0-1,0 0,-1 1,0-1,1 0,-1 1,0 5,-1-5,0 1,-1-1,1 1,-1-1,0 0,-1 1,1-1,-1 0,0 0,0 0,-1 0,0-1,0 1,-5 6,-8 8,0-2,-37 30,20-18,19-18,-1-1,1-1,-2 0,-26 11,15-7,11-7,-1 0,1-2,-1 1,0-2,-20 2,-8 2,-17 2,0-3,0-3,-98-6,133 2,1-2,-1-1,1-1,0-1,0-1,0-1,-34-18,49 21,0 1,-1-1,1 1,-1 1,1 0,-1 1,-15-1,-88 1,75 3,-553 1,561 0,-1 2,1 1,0 1,-34 12,0 0,22-6,1 1,1 2,0 2,-45 26,74-37,1-1,-1-1,0 0,-1-1,1 0,-1-1,1 0,-1-1,0-1,0 0,1-1,-1 0,-25-7,32 5,0 0,0 0,1-1,-1 0,1-1,0 1,0-1,0 0,1-1,-1 1,1-1,1 0,-1 0,-5-11,0 0,1-1,1 0,1-1,-7-26,12 40,1-1,0 0,0 1,0-1,1 0,0 0,0 0,1 0,-1 1,1-1,0 0,1 0,3-10,0 7,0 1,0-1,1 1,0 0,0 0,1 1,9-9,13-8,36-25,-46 36,0 0,0-2,-2 0,0-1,28-34,-29 26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221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75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52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35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66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36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85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20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59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31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57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CB81F93-8E9B-421B-BF26-7167AFE2463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5D8A834-D97B-4F51-B70D-A63AD10F5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77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CDC1-4234-CF16-3D18-613B31205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7" y="1429140"/>
            <a:ext cx="9966960" cy="3035808"/>
          </a:xfrm>
        </p:spPr>
        <p:txBody>
          <a:bodyPr/>
          <a:lstStyle/>
          <a:p>
            <a:r>
              <a:rPr lang="en-US" sz="7600" dirty="0"/>
              <a:t>Emergency ELEVATOR Power FAILURE Rescue SYSTEM</a:t>
            </a:r>
            <a:endParaRPr lang="en-IN" sz="7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73632-DFE1-0A4D-920E-9C885B96A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095" y="134977"/>
            <a:ext cx="1495425" cy="1123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E54053-F7BC-F0EB-F2E0-00824B897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004" y="5355932"/>
            <a:ext cx="1298325" cy="125277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808A6F-4C59-31AD-403A-83AE15B8A1AA}"/>
              </a:ext>
            </a:extLst>
          </p:cNvPr>
          <p:cNvCxnSpPr>
            <a:cxnSpLocks/>
          </p:cNvCxnSpPr>
          <p:nvPr/>
        </p:nvCxnSpPr>
        <p:spPr>
          <a:xfrm>
            <a:off x="11467167" y="1258927"/>
            <a:ext cx="1" cy="42113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 descr="A logo for a company&#10;&#10;AI-generated content may be incorrect.">
            <a:extLst>
              <a:ext uri="{FF2B5EF4-FFF2-40B4-BE49-F238E27FC236}">
                <a16:creationId xmlns:a16="http://schemas.microsoft.com/office/drawing/2014/main" id="{FA15DD71-0842-D8B6-776F-ADA60D770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3472" cy="12800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4EFBB5-1A89-91CD-08AE-470FF2B4E1DE}"/>
              </a:ext>
            </a:extLst>
          </p:cNvPr>
          <p:cNvSpPr txBox="1"/>
          <p:nvPr/>
        </p:nvSpPr>
        <p:spPr>
          <a:xfrm>
            <a:off x="1050774" y="4434840"/>
            <a:ext cx="6233531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900" dirty="0">
                <a:latin typeface="+mj-lt"/>
              </a:rPr>
              <a:t>LIFT RIZZ</a:t>
            </a:r>
          </a:p>
        </p:txBody>
      </p:sp>
    </p:spTree>
    <p:extLst>
      <p:ext uri="{BB962C8B-B14F-4D97-AF65-F5344CB8AC3E}">
        <p14:creationId xmlns:p14="http://schemas.microsoft.com/office/powerpoint/2010/main" val="386541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5AA137F1-A9D2-95D0-7125-10878E2C1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6399" cy="1282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9A078F-75EA-F2EB-4C31-03ADC40B9214}"/>
              </a:ext>
            </a:extLst>
          </p:cNvPr>
          <p:cNvSpPr txBox="1"/>
          <p:nvPr/>
        </p:nvSpPr>
        <p:spPr>
          <a:xfrm>
            <a:off x="2133600" y="271863"/>
            <a:ext cx="1005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B314E-0821-EEF3-4D5E-7636A0841686}"/>
              </a:ext>
            </a:extLst>
          </p:cNvPr>
          <p:cNvSpPr txBox="1"/>
          <p:nvPr/>
        </p:nvSpPr>
        <p:spPr>
          <a:xfrm>
            <a:off x="215185" y="1370541"/>
            <a:ext cx="117616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Modern elevator systems rely completely on continuous power supply for motor control, breaking, and door operations. During sudden power failures or voltage drops, </a:t>
            </a:r>
            <a:r>
              <a:rPr lang="en-US" sz="2200" b="1" dirty="0"/>
              <a:t>elevators can stop abruptly between floors </a:t>
            </a:r>
            <a:r>
              <a:rPr lang="en-US" sz="2200" dirty="0"/>
              <a:t>due to loss of drive control.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 many small and mid-scale buildings, </a:t>
            </a:r>
            <a:r>
              <a:rPr lang="en-US" sz="2200" b="1" dirty="0"/>
              <a:t>Automatic Rescue Devices (ARD) </a:t>
            </a:r>
            <a:r>
              <a:rPr lang="en-US" sz="2200" dirty="0"/>
              <a:t>are not installed because of </a:t>
            </a:r>
            <a:r>
              <a:rPr lang="en-US" sz="2200" b="1" dirty="0"/>
              <a:t>high cost </a:t>
            </a:r>
            <a:r>
              <a:rPr lang="en-US" sz="2200" dirty="0"/>
              <a:t>constraints. Backup power systems are often delayed or require manual switching. Most lifts do not have intelligent floor-position detection during outages. As a result, </a:t>
            </a:r>
            <a:r>
              <a:rPr lang="en-US" sz="2200" b="1" dirty="0"/>
              <a:t>passengers remain trapped </a:t>
            </a:r>
            <a:r>
              <a:rPr lang="en-US" sz="2200" dirty="0"/>
              <a:t>inside</a:t>
            </a:r>
            <a:r>
              <a:rPr lang="en-US" sz="2200" b="1" dirty="0"/>
              <a:t> </a:t>
            </a:r>
            <a:r>
              <a:rPr lang="en-US" sz="2200" dirty="0"/>
              <a:t>until external assistance arrives.</a:t>
            </a:r>
          </a:p>
        </p:txBody>
      </p:sp>
      <p:pic>
        <p:nvPicPr>
          <p:cNvPr id="1028" name="Picture 4" descr="A broken lift made me a prisoner in my home. But I fought for my disability  rights | James Coke | The Guardian">
            <a:extLst>
              <a:ext uri="{FF2B5EF4-FFF2-40B4-BE49-F238E27FC236}">
                <a16:creationId xmlns:a16="http://schemas.microsoft.com/office/drawing/2014/main" id="{7F958F2A-571F-83A2-626A-2923BF0F5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61" y="4171308"/>
            <a:ext cx="3582256" cy="268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2+ Hundred Lift Phobia Royalty-Free ...">
            <a:extLst>
              <a:ext uri="{FF2B5EF4-FFF2-40B4-BE49-F238E27FC236}">
                <a16:creationId xmlns:a16="http://schemas.microsoft.com/office/drawing/2014/main" id="{FF9FEC0D-DAB6-5DB2-93AD-EFC81647A9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" t="-1837" r="-497" b="9786"/>
          <a:stretch>
            <a:fillRect/>
          </a:stretch>
        </p:blipFill>
        <p:spPr bwMode="auto">
          <a:xfrm>
            <a:off x="5764896" y="4008014"/>
            <a:ext cx="4489999" cy="28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31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F0141655-EC90-E0CA-1E07-2779D6455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3472" cy="1280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ABE5A-BB62-7F03-2674-B52CF713008C}"/>
              </a:ext>
            </a:extLst>
          </p:cNvPr>
          <p:cNvSpPr txBox="1"/>
          <p:nvPr/>
        </p:nvSpPr>
        <p:spPr>
          <a:xfrm>
            <a:off x="1859622" y="308225"/>
            <a:ext cx="9996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BB0D1-2666-0252-B337-F9D4146C109D}"/>
              </a:ext>
            </a:extLst>
          </p:cNvPr>
          <p:cNvSpPr txBox="1"/>
          <p:nvPr/>
        </p:nvSpPr>
        <p:spPr>
          <a:xfrm>
            <a:off x="445213" y="1519509"/>
            <a:ext cx="1174678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/>
              <a:t>High precision Position Detection - Ultrasonic:</a:t>
            </a:r>
          </a:p>
          <a:p>
            <a:r>
              <a:rPr lang="en-US" sz="2200" dirty="0"/>
              <a:t>Ultrasonic sensors measure the distance between the cabin and reference points.</a:t>
            </a:r>
          </a:p>
          <a:p>
            <a:r>
              <a:rPr lang="en-US" sz="2200" dirty="0"/>
              <a:t>This allows accurate real-time detection of the elevator’s current position.</a:t>
            </a: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/>
              <a:t>Real-Time Power Monitoring:</a:t>
            </a:r>
          </a:p>
          <a:p>
            <a:r>
              <a:rPr lang="en-US" sz="2200" dirty="0"/>
              <a:t> The system continuously monitors the main power supply using a voltage sensing module.</a:t>
            </a:r>
          </a:p>
          <a:p>
            <a:r>
              <a:rPr lang="en-US" sz="2200" dirty="0"/>
              <a:t>It instantly detects any sudden power interruption or voltage drop.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/>
              <a:t>Automatic Backup Activation:</a:t>
            </a:r>
          </a:p>
          <a:p>
            <a:r>
              <a:rPr lang="en-US" sz="2200" dirty="0"/>
              <a:t>Upon detecting a power failure, a relay switches to battery backup automatically.</a:t>
            </a:r>
          </a:p>
          <a:p>
            <a:r>
              <a:rPr lang="en-US" sz="2200" dirty="0"/>
              <a:t>This ensures uninterrupted emergency functionality without manual control.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/>
              <a:t>Safe Landing &amp; User Alert:</a:t>
            </a:r>
          </a:p>
          <a:p>
            <a:r>
              <a:rPr lang="en-US" sz="2200" dirty="0"/>
              <a:t>The lift stops precisely at the nearest floor during power failure.</a:t>
            </a:r>
          </a:p>
          <a:p>
            <a:r>
              <a:rPr lang="en-US" sz="2200" dirty="0"/>
              <a:t>A buzzer or indicator alerts passengers about emergency rescue mode</a:t>
            </a:r>
          </a:p>
        </p:txBody>
      </p:sp>
    </p:spTree>
    <p:extLst>
      <p:ext uri="{BB962C8B-B14F-4D97-AF65-F5344CB8AC3E}">
        <p14:creationId xmlns:p14="http://schemas.microsoft.com/office/powerpoint/2010/main" val="389061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F560956E-CAAB-3573-750B-BEEC8FD62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3472" cy="1280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4C9C6B-E937-B671-257F-E0024B78A634}"/>
              </a:ext>
            </a:extLst>
          </p:cNvPr>
          <p:cNvSpPr txBox="1"/>
          <p:nvPr/>
        </p:nvSpPr>
        <p:spPr>
          <a:xfrm>
            <a:off x="6679058" y="133564"/>
            <a:ext cx="1010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D4929-7184-F0BC-26FE-BA4D182B14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6" r="1661"/>
          <a:stretch>
            <a:fillRect/>
          </a:stretch>
        </p:blipFill>
        <p:spPr>
          <a:xfrm>
            <a:off x="5320057" y="772895"/>
            <a:ext cx="6773973" cy="39104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62FDCB-B77F-0CCB-8FE6-5B3F5FA9A2C8}"/>
              </a:ext>
            </a:extLst>
          </p:cNvPr>
          <p:cNvSpPr txBox="1"/>
          <p:nvPr/>
        </p:nvSpPr>
        <p:spPr>
          <a:xfrm>
            <a:off x="-460747" y="245813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Rockwell" panose="02060603020205020403" pitchFamily="18" charset="0"/>
              </a:rPr>
              <a:t>Major Causes of Elevator Failure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3DE389-873C-E4E2-75C2-CD96AEDE46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7" t="2483" r="1697" b="2598"/>
          <a:stretch>
            <a:fillRect/>
          </a:stretch>
        </p:blipFill>
        <p:spPr>
          <a:xfrm>
            <a:off x="97970" y="2827469"/>
            <a:ext cx="5290459" cy="37118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BD9B29-2A0D-77CB-2796-2ECC7196136F}"/>
                  </a:ext>
                </a:extLst>
              </p14:cNvPr>
              <p14:cNvContentPartPr/>
              <p14:nvPr/>
            </p14:nvContentPartPr>
            <p14:xfrm>
              <a:off x="1478972" y="3123787"/>
              <a:ext cx="995400" cy="228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BD9B29-2A0D-77CB-2796-2ECC719613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5332" y="3016147"/>
                <a:ext cx="1103040" cy="4438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E553434-6896-EE09-71AF-95CEE7A895BF}"/>
              </a:ext>
            </a:extLst>
          </p:cNvPr>
          <p:cNvSpPr txBox="1"/>
          <p:nvPr/>
        </p:nvSpPr>
        <p:spPr>
          <a:xfrm>
            <a:off x="2097084" y="509485"/>
            <a:ext cx="31259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Major elevator failure is due to </a:t>
            </a:r>
            <a:r>
              <a:rPr lang="en-US" sz="3200" b="1" dirty="0">
                <a:highlight>
                  <a:srgbClr val="808000"/>
                </a:highlight>
              </a:rPr>
              <a:t>power failure</a:t>
            </a:r>
          </a:p>
        </p:txBody>
      </p:sp>
    </p:spTree>
    <p:extLst>
      <p:ext uri="{BB962C8B-B14F-4D97-AF65-F5344CB8AC3E}">
        <p14:creationId xmlns:p14="http://schemas.microsoft.com/office/powerpoint/2010/main" val="229333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BC475001-0DC8-40A6-B43A-F271EAA5B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3472" cy="1280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33D47B-5864-6F2C-9803-EB134E9C9A41}"/>
              </a:ext>
            </a:extLst>
          </p:cNvPr>
          <p:cNvSpPr txBox="1"/>
          <p:nvPr/>
        </p:nvSpPr>
        <p:spPr>
          <a:xfrm>
            <a:off x="1746607" y="633693"/>
            <a:ext cx="10284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Feasibility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9CB8E-7DEC-EC5D-5C0D-BB43E4564A1C}"/>
              </a:ext>
            </a:extLst>
          </p:cNvPr>
          <p:cNvSpPr txBox="1"/>
          <p:nvPr/>
        </p:nvSpPr>
        <p:spPr>
          <a:xfrm>
            <a:off x="2373087" y="1611696"/>
            <a:ext cx="7331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Retrofit</a:t>
            </a:r>
            <a:r>
              <a:rPr lang="en-US" sz="2400" dirty="0"/>
              <a:t>: Can be integrated into existing elevator systems with minor modifications.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Low cost: </a:t>
            </a:r>
            <a:r>
              <a:rPr lang="en-US" sz="2400" dirty="0"/>
              <a:t>The system uses low-cost and easily available components like microcontroller, ultrasonic sensors, relay, and battery.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Energy efficient: </a:t>
            </a:r>
            <a:r>
              <a:rPr lang="en-US" sz="2400" dirty="0"/>
              <a:t>Power requirement is minimal, making small battery backup sufficient for emergency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Scalability:</a:t>
            </a:r>
            <a:r>
              <a:rPr lang="en-US" sz="2400" dirty="0"/>
              <a:t> Suitable for apartments, hospitals, and small buildings due to affordable implementation cost.</a:t>
            </a:r>
          </a:p>
        </p:txBody>
      </p:sp>
    </p:spTree>
    <p:extLst>
      <p:ext uri="{BB962C8B-B14F-4D97-AF65-F5344CB8AC3E}">
        <p14:creationId xmlns:p14="http://schemas.microsoft.com/office/powerpoint/2010/main" val="259500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56557421-0F76-61AB-2C0F-BFF523C8D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3472" cy="1280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D3A967-EAAD-8183-AF16-376E6C97325E}"/>
              </a:ext>
            </a:extLst>
          </p:cNvPr>
          <p:cNvSpPr txBox="1"/>
          <p:nvPr/>
        </p:nvSpPr>
        <p:spPr>
          <a:xfrm>
            <a:off x="297952" y="1356189"/>
            <a:ext cx="3739792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/>
              <a:t>Residential Apartment Power Failure: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Sudden power cuts in apartments can cause elevators to stop abruptly between floors. In many buildings, lack of Automatic Rescue Devices increases the risk of passenger entrapment.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Backup systems often activate with delay or require manual switching. This results in residents remaining trapped for several minutes until help arrives.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2EA7F9-4214-A3E2-C98C-37FF130976B3}"/>
              </a:ext>
            </a:extLst>
          </p:cNvPr>
          <p:cNvSpPr txBox="1"/>
          <p:nvPr/>
        </p:nvSpPr>
        <p:spPr>
          <a:xfrm>
            <a:off x="4044595" y="1356189"/>
            <a:ext cx="410966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/>
              <a:t>Hospital Elevator Power Outage: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Unexpected power interruptions can halt elevators carrying patients or medical staff. Generator switching time may delay emergency movement within the hospital.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Even short lift downtime can affect patient transfer and emergency response. Reliable automatic rescue mechanisms are critical in healthcare environments.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05E09-1341-E3B2-E298-3D4D27FCBE6E}"/>
              </a:ext>
            </a:extLst>
          </p:cNvPr>
          <p:cNvSpPr txBox="1"/>
          <p:nvPr/>
        </p:nvSpPr>
        <p:spPr>
          <a:xfrm>
            <a:off x="8161109" y="1356189"/>
            <a:ext cx="389047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dirty="0"/>
              <a:t>Heavy Rain / Storm Power Cut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Storms and heavy rainfall frequently cause voltage fluctuations and sudden lift stoppage. Buildings without voltage monitoring systems experience repeated failures.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Due to high installation costs, many small buildings avoid advanced rescue systems. Passengers remain stranded until maintenance teams intervene.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9FD8E1-5C9F-F75C-B1A8-B9E83321C2CE}"/>
              </a:ext>
            </a:extLst>
          </p:cNvPr>
          <p:cNvSpPr txBox="1"/>
          <p:nvPr/>
        </p:nvSpPr>
        <p:spPr>
          <a:xfrm>
            <a:off x="1736333" y="195209"/>
            <a:ext cx="9842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Existing Lift Survey</a:t>
            </a:r>
          </a:p>
        </p:txBody>
      </p:sp>
    </p:spTree>
    <p:extLst>
      <p:ext uri="{BB962C8B-B14F-4D97-AF65-F5344CB8AC3E}">
        <p14:creationId xmlns:p14="http://schemas.microsoft.com/office/powerpoint/2010/main" val="1067142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80A52A7E-DD30-0B82-D0EF-31AB8FB7F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3472" cy="1280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6E9DD4-DAC4-01AD-86B8-65C01B725942}"/>
              </a:ext>
            </a:extLst>
          </p:cNvPr>
          <p:cNvSpPr txBox="1"/>
          <p:nvPr/>
        </p:nvSpPr>
        <p:spPr>
          <a:xfrm>
            <a:off x="1839074" y="205483"/>
            <a:ext cx="995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Calculations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00ECD-3156-6BBE-2C1E-5DF5FDC9C842}"/>
              </a:ext>
            </a:extLst>
          </p:cNvPr>
          <p:cNvSpPr txBox="1"/>
          <p:nvPr/>
        </p:nvSpPr>
        <p:spPr>
          <a:xfrm>
            <a:off x="5400298" y="977375"/>
            <a:ext cx="283320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Energy Comparison: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Existing System:</a:t>
            </a:r>
            <a:endParaRPr lang="en-US" sz="2000" dirty="0"/>
          </a:p>
          <a:p>
            <a:r>
              <a:rPr lang="en-IN" sz="2000" dirty="0"/>
              <a:t>E1=</a:t>
            </a:r>
            <a:r>
              <a:rPr lang="en-IN" sz="2000" dirty="0" err="1"/>
              <a:t>P×t</a:t>
            </a:r>
            <a:endParaRPr lang="en-US" sz="2000" dirty="0"/>
          </a:p>
          <a:p>
            <a:r>
              <a:rPr lang="en-IN" sz="2000" dirty="0"/>
              <a:t>=746W×2/60</a:t>
            </a:r>
            <a:endParaRPr lang="en-US" sz="2000" dirty="0"/>
          </a:p>
          <a:p>
            <a:r>
              <a:rPr lang="en-IN" sz="2000" dirty="0">
                <a:highlight>
                  <a:srgbClr val="FFFF00"/>
                </a:highlight>
              </a:rPr>
              <a:t>E1≈25Wh</a:t>
            </a:r>
          </a:p>
          <a:p>
            <a:r>
              <a:rPr lang="en-IN" sz="2000" b="1" dirty="0"/>
              <a:t>Cost Comparison: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Existing System:</a:t>
            </a:r>
            <a:endParaRPr lang="en-US" sz="2000" dirty="0"/>
          </a:p>
          <a:p>
            <a:r>
              <a:rPr lang="en-IN" sz="2000" dirty="0">
                <a:highlight>
                  <a:srgbClr val="FFFF00"/>
                </a:highlight>
              </a:rPr>
              <a:t>60,000 /-</a:t>
            </a:r>
            <a:endParaRPr lang="en-US" sz="2000" dirty="0">
              <a:highlight>
                <a:srgbClr val="FFFF00"/>
              </a:highlight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3166A-E582-A445-EE85-CEC45EE39995}"/>
              </a:ext>
            </a:extLst>
          </p:cNvPr>
          <p:cNvSpPr txBox="1"/>
          <p:nvPr/>
        </p:nvSpPr>
        <p:spPr>
          <a:xfrm>
            <a:off x="8618978" y="977375"/>
            <a:ext cx="315685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Energy Comparison: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Proposed System:</a:t>
            </a:r>
            <a:endParaRPr lang="en-US" sz="2000" dirty="0"/>
          </a:p>
          <a:p>
            <a:r>
              <a:rPr lang="en-IN" sz="2000" dirty="0"/>
              <a:t>E2=500W×20/3600</a:t>
            </a:r>
            <a:endParaRPr lang="en-US" sz="2000" dirty="0"/>
          </a:p>
          <a:p>
            <a:r>
              <a:rPr lang="en-IN" sz="2000" dirty="0">
                <a:highlight>
                  <a:srgbClr val="FFFF00"/>
                </a:highlight>
              </a:rPr>
              <a:t>​E2≈3Wh</a:t>
            </a:r>
          </a:p>
          <a:p>
            <a:r>
              <a:rPr lang="en-IN" sz="2000" b="1" dirty="0"/>
              <a:t>Cost Comparison: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Proposed System:</a:t>
            </a:r>
            <a:endParaRPr lang="en-US" sz="2000" dirty="0"/>
          </a:p>
          <a:p>
            <a:r>
              <a:rPr lang="en-IN" sz="2000" dirty="0">
                <a:highlight>
                  <a:srgbClr val="FFFF00"/>
                </a:highlight>
              </a:rPr>
              <a:t>5000/-</a:t>
            </a:r>
            <a:endParaRPr lang="en-US" sz="2000" dirty="0">
              <a:highlight>
                <a:srgbClr val="FFFF00"/>
              </a:highlight>
            </a:endParaRPr>
          </a:p>
          <a:p>
            <a:endParaRPr lang="en-IN" sz="2000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535E1-E95B-FF95-13DC-4BB71BD6A475}"/>
              </a:ext>
            </a:extLst>
          </p:cNvPr>
          <p:cNvSpPr/>
          <p:nvPr/>
        </p:nvSpPr>
        <p:spPr>
          <a:xfrm>
            <a:off x="6816902" y="4559615"/>
            <a:ext cx="3951514" cy="2148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6C2D4-7744-897C-C91C-C200F7A64E7B}"/>
              </a:ext>
            </a:extLst>
          </p:cNvPr>
          <p:cNvSpPr txBox="1"/>
          <p:nvPr/>
        </p:nvSpPr>
        <p:spPr>
          <a:xfrm>
            <a:off x="7147878" y="4615621"/>
            <a:ext cx="373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b="1" dirty="0"/>
              <a:t>Energy Saved:</a:t>
            </a:r>
            <a:endParaRPr lang="en-US" sz="2700" b="1" dirty="0"/>
          </a:p>
          <a:p>
            <a:r>
              <a:rPr lang="en-IN" sz="2700" b="1" dirty="0">
                <a:highlight>
                  <a:srgbClr val="FFFF00"/>
                </a:highlight>
              </a:rPr>
              <a:t>25Wh-3Wh=22Wh</a:t>
            </a:r>
            <a:endParaRPr lang="en-US" sz="2700" b="1" dirty="0">
              <a:highlight>
                <a:srgbClr val="FFFF00"/>
              </a:highlight>
            </a:endParaRPr>
          </a:p>
          <a:p>
            <a:r>
              <a:rPr lang="en-IN" sz="2700" b="1" dirty="0"/>
              <a:t>Cost Saved :</a:t>
            </a:r>
            <a:endParaRPr lang="en-US" sz="2700" b="1" dirty="0"/>
          </a:p>
          <a:p>
            <a:r>
              <a:rPr lang="en-IN" sz="2700" b="1" dirty="0">
                <a:highlight>
                  <a:srgbClr val="FFFF00"/>
                </a:highlight>
              </a:rPr>
              <a:t>60,000-5,000= 55,000</a:t>
            </a:r>
            <a:endParaRPr lang="en-US" sz="2700" b="1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5B44F6-7426-DA5B-B353-87961E6B60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56" t="18654" r="16303" b="22439"/>
          <a:stretch>
            <a:fillRect/>
          </a:stretch>
        </p:blipFill>
        <p:spPr>
          <a:xfrm>
            <a:off x="156102" y="1941816"/>
            <a:ext cx="5143619" cy="372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64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1C0CEE17-F3A1-8ED8-3CDB-BDD6DB2C4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3472" cy="1280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FFDD5-82DA-AAD2-BCE6-51C9FBF47C7D}"/>
              </a:ext>
            </a:extLst>
          </p:cNvPr>
          <p:cNvSpPr txBox="1"/>
          <p:nvPr/>
        </p:nvSpPr>
        <p:spPr>
          <a:xfrm>
            <a:off x="1715784" y="174661"/>
            <a:ext cx="1009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Innovation &amp; Advantages,Applications &amp; Future Enhancements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E2264-1551-FA6E-870C-00B15862E45F}"/>
              </a:ext>
            </a:extLst>
          </p:cNvPr>
          <p:cNvSpPr/>
          <p:nvPr/>
        </p:nvSpPr>
        <p:spPr>
          <a:xfrm>
            <a:off x="893852" y="1255230"/>
            <a:ext cx="10397447" cy="51824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InnovationSmart automatic rescue system that works instantly during power failure.Can be integrated into existing elevator systems with minimal </a:t>
            </a:r>
            <a:r>
              <a:rPr lang="en-US" dirty="0" err="1"/>
              <a:t>modification.Low</a:t>
            </a:r>
            <a:r>
              <a:rPr lang="en-US" dirty="0"/>
              <a:t>-cost embedded solution suitable for small and mid-scale buildings.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F4EA32-F19A-F9B5-D290-CFCEA650DAFD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6092576" y="1255230"/>
            <a:ext cx="0" cy="5182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45CB89-D457-5510-BA1E-280A37658A57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893852" y="3846441"/>
            <a:ext cx="10397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2B4277-1CFC-3674-007B-7D3132F0CEC0}"/>
              </a:ext>
            </a:extLst>
          </p:cNvPr>
          <p:cNvSpPr txBox="1"/>
          <p:nvPr/>
        </p:nvSpPr>
        <p:spPr>
          <a:xfrm>
            <a:off x="1073652" y="1280024"/>
            <a:ext cx="457199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Innovation: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Smart automatic rescue system that </a:t>
            </a:r>
            <a:r>
              <a:rPr lang="en-US" b="1" dirty="0"/>
              <a:t>works instantly </a:t>
            </a:r>
            <a:r>
              <a:rPr lang="en-US" dirty="0"/>
              <a:t>during power failure. Can be </a:t>
            </a:r>
            <a:r>
              <a:rPr lang="en-US" b="1" dirty="0"/>
              <a:t>integrated into existing elevator </a:t>
            </a:r>
            <a:r>
              <a:rPr lang="en-US" dirty="0"/>
              <a:t>systems with minimal modification.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Low-cost</a:t>
            </a:r>
            <a:r>
              <a:rPr lang="en-US" dirty="0"/>
              <a:t> embedded solution suitable for small and mid-scale buildings.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300666-FA52-970D-72E5-B41D0353B1CF}"/>
              </a:ext>
            </a:extLst>
          </p:cNvPr>
          <p:cNvSpPr txBox="1"/>
          <p:nvPr/>
        </p:nvSpPr>
        <p:spPr>
          <a:xfrm>
            <a:off x="6142234" y="1305443"/>
            <a:ext cx="509598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Advantages: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Prevents passengers from being trapped between floors thus, reducing anxiety.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Ensures </a:t>
            </a:r>
            <a:r>
              <a:rPr lang="en-US" b="1" dirty="0"/>
              <a:t>safe landing </a:t>
            </a:r>
            <a:r>
              <a:rPr lang="en-US" dirty="0"/>
              <a:t>with smooth motor control.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Provides </a:t>
            </a:r>
            <a:r>
              <a:rPr lang="en-US" b="1" dirty="0"/>
              <a:t>fast backup </a:t>
            </a:r>
            <a:r>
              <a:rPr lang="en-US" dirty="0"/>
              <a:t>switching without manual technician support.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 Scalable Architecture </a:t>
            </a:r>
            <a:r>
              <a:rPr lang="en-US" dirty="0"/>
              <a:t>and enhances elevator reliability.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A38110-5EC1-BEDD-6DB3-A59CFD38E96E}"/>
              </a:ext>
            </a:extLst>
          </p:cNvPr>
          <p:cNvSpPr txBox="1"/>
          <p:nvPr/>
        </p:nvSpPr>
        <p:spPr>
          <a:xfrm>
            <a:off x="953786" y="3846440"/>
            <a:ext cx="498296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Applications: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Residential apartments and gated communities.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Hospitals and healthcare facilities.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Commercial buildings and shopping malls.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Small buildings without advanced ARD systems.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536E38-F8B5-561E-0ADE-DE4B2AB21751}"/>
              </a:ext>
            </a:extLst>
          </p:cNvPr>
          <p:cNvSpPr txBox="1"/>
          <p:nvPr/>
        </p:nvSpPr>
        <p:spPr>
          <a:xfrm>
            <a:off x="6248400" y="3889091"/>
            <a:ext cx="498981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Future Enhancements: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IoT-based remote monitoring and mobile alerts.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GSM module for emergency SMS notification.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AI-based load and fault prediction system.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Integration with smart building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277240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company&#10;&#10;AI-generated content may be incorrect.">
            <a:extLst>
              <a:ext uri="{FF2B5EF4-FFF2-40B4-BE49-F238E27FC236}">
                <a16:creationId xmlns:a16="http://schemas.microsoft.com/office/drawing/2014/main" id="{F85BD0E8-74CC-044B-EDED-80D6BDC59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4075"/>
          <a:stretch>
            <a:fillRect/>
          </a:stretch>
        </p:blipFill>
        <p:spPr>
          <a:xfrm>
            <a:off x="0" y="0"/>
            <a:ext cx="1583472" cy="1280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DBDBE1-ED39-C9BF-4ABB-6EA7F3E54199}"/>
              </a:ext>
            </a:extLst>
          </p:cNvPr>
          <p:cNvSpPr txBox="1"/>
          <p:nvPr/>
        </p:nvSpPr>
        <p:spPr>
          <a:xfrm>
            <a:off x="1921267" y="308225"/>
            <a:ext cx="8024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Conclusion</a:t>
            </a:r>
          </a:p>
        </p:txBody>
      </p:sp>
      <p:pic>
        <p:nvPicPr>
          <p:cNvPr id="6" name="Picture 5" descr="&#10;">
            <a:extLst>
              <a:ext uri="{FF2B5EF4-FFF2-40B4-BE49-F238E27FC236}">
                <a16:creationId xmlns:a16="http://schemas.microsoft.com/office/drawing/2014/main" id="{28CBD294-A83E-C26E-2EA0-CE726846B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0"/>
          <a:stretch>
            <a:fillRect/>
          </a:stretch>
        </p:blipFill>
        <p:spPr>
          <a:xfrm>
            <a:off x="3564399" y="1087229"/>
            <a:ext cx="5063201" cy="38411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3B6255-A2A3-47B2-5034-BBAC9026F9B0}"/>
              </a:ext>
            </a:extLst>
          </p:cNvPr>
          <p:cNvSpPr txBox="1"/>
          <p:nvPr/>
        </p:nvSpPr>
        <p:spPr>
          <a:xfrm>
            <a:off x="452552" y="1280024"/>
            <a:ext cx="3836419" cy="4093428"/>
          </a:xfrm>
          <a:prstGeom prst="rect">
            <a:avLst/>
          </a:prstGeom>
          <a:blipFill dpi="0" rotWithShape="1">
            <a:blip r:embed="rId4">
              <a:alphaModFix amt="0"/>
            </a:blip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proposed elevator emergency rescue system provides a </a:t>
            </a:r>
            <a:r>
              <a:rPr lang="en-US" sz="2000" b="1" dirty="0"/>
              <a:t>reliable</a:t>
            </a:r>
            <a:r>
              <a:rPr lang="en-US" sz="2000" dirty="0"/>
              <a:t> and </a:t>
            </a:r>
            <a:r>
              <a:rPr lang="en-US" sz="2000" b="1" dirty="0"/>
              <a:t>cost‑effective </a:t>
            </a:r>
            <a:r>
              <a:rPr lang="en-US" sz="2000" dirty="0"/>
              <a:t>solution for power failure situations.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The calculations demonstrate </a:t>
            </a:r>
            <a:r>
              <a:rPr lang="en-US" sz="2000" b="1" dirty="0"/>
              <a:t>reduced energy consumption </a:t>
            </a:r>
            <a:r>
              <a:rPr lang="en-US" sz="2000" dirty="0"/>
              <a:t>and </a:t>
            </a:r>
            <a:r>
              <a:rPr lang="en-US" sz="2000" b="1" dirty="0"/>
              <a:t>faster response </a:t>
            </a:r>
            <a:r>
              <a:rPr lang="en-US" sz="2000" dirty="0"/>
              <a:t>compared to existing systems. This makes the solution technically efficient and practically feasible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969EA-28F1-27A3-182F-1800C2FEC8E1}"/>
              </a:ext>
            </a:extLst>
          </p:cNvPr>
          <p:cNvSpPr txBox="1"/>
          <p:nvPr/>
        </p:nvSpPr>
        <p:spPr>
          <a:xfrm>
            <a:off x="8050111" y="1514467"/>
            <a:ext cx="41039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From a Social point of view</a:t>
            </a:r>
            <a:r>
              <a:rPr lang="en-US" sz="2000" dirty="0"/>
              <a:t>,  passenger safety should not depend on expensive infrastructure. Our system ensures that even small apartments and hospitals can provide safe and quick emergency rescue during power cuts.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36256-0902-7F95-D1B8-DD277BAB6AC1}"/>
              </a:ext>
            </a:extLst>
          </p:cNvPr>
          <p:cNvSpPr txBox="1"/>
          <p:nvPr/>
        </p:nvSpPr>
        <p:spPr>
          <a:xfrm>
            <a:off x="3855929" y="4611231"/>
            <a:ext cx="44304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Technically</a:t>
            </a:r>
            <a:r>
              <a:rPr lang="en-US" sz="2000" dirty="0"/>
              <a:t>, the project proves that smart embedded control and optimized power usage can significantly reduce rescue time, energy consumption, and operational cost while improving system reliability.</a:t>
            </a:r>
          </a:p>
        </p:txBody>
      </p:sp>
    </p:spTree>
    <p:extLst>
      <p:ext uri="{BB962C8B-B14F-4D97-AF65-F5344CB8AC3E}">
        <p14:creationId xmlns:p14="http://schemas.microsoft.com/office/powerpoint/2010/main" val="10853496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573</TotalTime>
  <Words>815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Rockwell</vt:lpstr>
      <vt:lpstr>Rockwell Condensed</vt:lpstr>
      <vt:lpstr>Wingdings</vt:lpstr>
      <vt:lpstr>Wood Type</vt:lpstr>
      <vt:lpstr>Emergency ELEVATOR Power FAILURE Rescue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Abhinayaa V</dc:creator>
  <cp:lastModifiedBy>Dharshanaa R</cp:lastModifiedBy>
  <cp:revision>5</cp:revision>
  <dcterms:created xsi:type="dcterms:W3CDTF">2026-02-17T04:19:14Z</dcterms:created>
  <dcterms:modified xsi:type="dcterms:W3CDTF">2026-02-18T06:51:18Z</dcterms:modified>
</cp:coreProperties>
</file>